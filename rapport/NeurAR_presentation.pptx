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5120640"/>
            <a:ext cx="2377440" cy="237744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1B2A4A"/>
                </a:solidFill>
                <a:latin typeface="Calibri"/>
              </a:rPr>
              <a:t>NeurAR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8D99AE"/>
                </a:solidFill>
                <a:latin typeface="Calibri"/>
              </a:rPr>
              <a:t>Un reseau de neurones a decouvrir en realite augmentee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297680"/>
            <a:ext cx="6949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1B2A4A"/>
                </a:solidFill>
                <a:latin typeface="Calibri"/>
              </a:rPr>
              <a:t>CHAIBOU SAIDOU ABDOULAYE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1B2A4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EC4B6"/>
                </a:solidFill>
                <a:latin typeface="Calibri"/>
              </a:rPr>
              <a:t>Encadrants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D3142"/>
                </a:solidFill>
                <a:latin typeface="Calibri"/>
              </a:rPr>
              <a:t>Pr. Tawfik Masrour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D3142"/>
                </a:solidFill>
                <a:latin typeface="Calibri"/>
              </a:rPr>
              <a:t>Pr. Ajebli Aymane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D3142"/>
                </a:solidFill>
                <a:latin typeface="Calibri"/>
              </a:rPr>
              <a:t>Pr. Maalouf Imad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Sommaire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99339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Contexte et objectifs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69443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48412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Architecture de la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33954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18516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Le modele de reseau de neurones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096511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8862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Communication temps reel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4797551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58724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Application Unity en realite augmentee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5498591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2882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Resultats, apports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Contexte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26771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Un reseau de neurones reste une 'boite noire' difficile a comprendre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36499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1546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La realite augmentee permet d'explorer un objet 3D dans le monde reel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462271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251959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2D3142"/>
                </a:solidFill>
                <a:latin typeface="Calibri"/>
              </a:rPr>
              <a:t>Idee : afficher et animer un reseau de neurones en AR, en temps reel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Objectifs du projet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99339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Entrainer un reseau MLP avec PyTorch sur MNIST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99923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Exposer son etat en temps reel via une API et un WebSocket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050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9476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Visualiser le reseau en 3D dans une application Unity AR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501091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8006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Animer le forward pass et le backward pass, et permettre l'interaction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Architecture generale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291840" cy="1371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Application Unity
(client AR)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2834640"/>
            <a:ext cx="1417320" cy="0"/>
          </a:xfrm>
          <a:prstGeom prst="line">
            <a:avLst/>
          </a:prstGeom>
          <a:ln w="28575">
            <a:solidFill>
              <a:srgbClr val="2EC4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114800" y="3383280"/>
            <a:ext cx="1417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532120" y="2468880"/>
            <a:ext cx="3291840" cy="137160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Backend FastAPI
REST + WebSocket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23960" y="2834640"/>
            <a:ext cx="1417320" cy="0"/>
          </a:xfrm>
          <a:prstGeom prst="line">
            <a:avLst/>
          </a:prstGeom>
          <a:ln w="28575">
            <a:solidFill>
              <a:srgbClr val="2EC4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23960" y="3383280"/>
            <a:ext cx="1417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823960" y="2468880"/>
            <a:ext cx="2697480" cy="1371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Modele PyTorch
(NeuroARNet)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976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D99AE"/>
                </a:solidFill>
                <a:latin typeface="Calibri"/>
              </a:rPr>
              <a:t>Unity envoie des commandes, le backend interroge le modele et renvoie l'etat du reseau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Le modele : un reseau MLP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057400" y="2583180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57400" y="2903220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7400" y="2903220"/>
            <a:ext cx="2514600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57400" y="2903220"/>
            <a:ext cx="2514600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2903220"/>
            <a:ext cx="2514600" cy="224028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057400" y="2583180"/>
            <a:ext cx="2514600" cy="96012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57400" y="3223260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57400" y="3543300"/>
            <a:ext cx="2514600" cy="32003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57400" y="3543300"/>
            <a:ext cx="2514600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57400" y="3543300"/>
            <a:ext cx="2514600" cy="160020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57400" y="2583180"/>
            <a:ext cx="2514600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57400" y="3223260"/>
            <a:ext cx="2514600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057400" y="3863339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57400" y="4183379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57400" y="4183379"/>
            <a:ext cx="2514600" cy="960121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57400" y="2583180"/>
            <a:ext cx="2514600" cy="224027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3223260"/>
            <a:ext cx="2514600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057400" y="3863339"/>
            <a:ext cx="2514600" cy="96012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057400" y="4503419"/>
            <a:ext cx="2514600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57400" y="4823459"/>
            <a:ext cx="2514600" cy="320041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83480" y="2583180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83480" y="2583180"/>
            <a:ext cx="2514599" cy="96012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83480" y="2583180"/>
            <a:ext cx="2514599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83480" y="2583180"/>
            <a:ext cx="2514599" cy="224027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83480" y="2903220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83480" y="3223260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83480" y="3223260"/>
            <a:ext cx="2514599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83480" y="3223260"/>
            <a:ext cx="2514599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983480" y="2903220"/>
            <a:ext cx="2514599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83480" y="3543300"/>
            <a:ext cx="2514599" cy="32003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83480" y="3863339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83480" y="3863339"/>
            <a:ext cx="2514599" cy="96012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983480" y="2903220"/>
            <a:ext cx="2514599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83480" y="3543300"/>
            <a:ext cx="2514599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983480" y="4183379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83480" y="4503419"/>
            <a:ext cx="2514599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983480" y="2903220"/>
            <a:ext cx="2514599" cy="224028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983480" y="3543300"/>
            <a:ext cx="2514599" cy="160020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83480" y="4183379"/>
            <a:ext cx="2514599" cy="960121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83480" y="4823459"/>
            <a:ext cx="2514599" cy="320041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09559" y="2903220"/>
            <a:ext cx="2514601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09559" y="2903220"/>
            <a:ext cx="2514601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09559" y="2903220"/>
            <a:ext cx="2514601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909559" y="3223260"/>
            <a:ext cx="2514601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09559" y="3543300"/>
            <a:ext cx="2514601" cy="32003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09559" y="3543300"/>
            <a:ext cx="2514601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909559" y="3223260"/>
            <a:ext cx="2514601" cy="96011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09559" y="3863339"/>
            <a:ext cx="2514601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09559" y="4183379"/>
            <a:ext cx="2514601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09559" y="3223260"/>
            <a:ext cx="2514601" cy="1600199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909559" y="3863339"/>
            <a:ext cx="2514601" cy="96012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09559" y="4503419"/>
            <a:ext cx="2514601" cy="320040"/>
          </a:xfrm>
          <a:prstGeom prst="line">
            <a:avLst/>
          </a:prstGeom>
          <a:ln w="635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645920" y="2697480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45920" y="3337560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45920" y="3977639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645920" y="4617720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4440" y="5394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Entree
784</a:t>
            </a:r>
          </a:p>
        </p:txBody>
      </p:sp>
      <p:sp>
        <p:nvSpPr>
          <p:cNvPr id="61" name="Oval 60"/>
          <p:cNvSpPr/>
          <p:nvPr/>
        </p:nvSpPr>
        <p:spPr>
          <a:xfrm>
            <a:off x="4572000" y="237744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72000" y="301752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72000" y="365760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72000" y="4297679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572000" y="493776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60520" y="5715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Cachee 1
128</a:t>
            </a:r>
          </a:p>
        </p:txBody>
      </p:sp>
      <p:sp>
        <p:nvSpPr>
          <p:cNvPr id="67" name="Oval 66"/>
          <p:cNvSpPr/>
          <p:nvPr/>
        </p:nvSpPr>
        <p:spPr>
          <a:xfrm>
            <a:off x="7498079" y="269748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98079" y="333756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498079" y="3977639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98079" y="4617720"/>
            <a:ext cx="411480" cy="4114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86599" y="5394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Cachee 2
64</a:t>
            </a:r>
          </a:p>
        </p:txBody>
      </p:sp>
      <p:sp>
        <p:nvSpPr>
          <p:cNvPr id="72" name="Oval 71"/>
          <p:cNvSpPr/>
          <p:nvPr/>
        </p:nvSpPr>
        <p:spPr>
          <a:xfrm>
            <a:off x="10424160" y="3017520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424160" y="3657600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24160" y="4297679"/>
            <a:ext cx="411480" cy="4114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12680" y="50749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</a:rPr>
              <a:t>Sortie
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3000" y="56692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D99AE"/>
                </a:solidFill>
                <a:latin typeface="Calibri"/>
              </a:rPr>
              <a:t>Linear + BatchNorm + ReLU sur les couches cachees, Softmax en sortie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Fonctionnement du modele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26771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Architecture configurable (ex. 784 - 128 - 64 - 10) via un fichier .env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36499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1546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Active sur le dataset MNIST, avec calcul de la perte et de la precision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462271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251959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 chaque passe, activations, poids et biais sont extraits et normalises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Communication temps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4B6"/>
                </a:solidFill>
              </a:rPr>
              <a:t>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/health, /architecture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/network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/forward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9C46A"/>
                </a:solidFill>
              </a:rPr>
              <a:t>WebSocket /ws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get_network -&gt; etat initial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forward_pass -&gt; animation couche par couche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backward_pass -&gt; mise a jour des poids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D3142"/>
                </a:solidFill>
              </a:rPr>
              <a:t>reset -&gt; nouveau modele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Animation du forward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828800"/>
            <a:ext cx="2743200" cy="73152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Backend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657600" y="2926080"/>
            <a:ext cx="4846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0" y="26060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D3142"/>
                </a:solidFill>
              </a:rPr>
              <a:t>Couche 0 (entree)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657600" y="3703320"/>
            <a:ext cx="4846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0" y="338327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D3142"/>
                </a:solidFill>
              </a:rPr>
              <a:t>Couche 1 (+100 ms)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657600" y="4480559"/>
            <a:ext cx="4846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40480" y="41605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D3142"/>
                </a:solidFill>
              </a:rPr>
              <a:t>Couche 2 (+100 ms)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657600" y="5257799"/>
            <a:ext cx="4846320" cy="0"/>
          </a:xfrm>
          <a:prstGeom prst="line">
            <a:avLst/>
          </a:prstGeom>
          <a:ln w="28575">
            <a:solidFill>
              <a:srgbClr val="E9C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493775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D3142"/>
                </a:solidFill>
              </a:rPr>
              <a:t>Couche 3 / sortie (+100 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264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D99AE"/>
                </a:solidFill>
                <a:latin typeface="Calibri"/>
              </a:rPr>
              <a:t>Chaque couche est diffusee separement pour une animation fluide en 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Application Unity AR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99339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Placement du reseau virtuel dans l'environnement reel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99923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Rendu 3D : couches, neurones et connexions animes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050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9476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Reception des donnees du backend via WebSocket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501091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8006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Interactions : rotation, zoom, selection d'un neurone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Fonctionnalites cles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99339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Visualisation du reseau couche par couche, en 3D et en AR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99923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Animation du forward pass et du backward pass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050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9476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Affichage en direct des activations, poids et biais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501091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8006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Suivi de la perte et de la precision, reinitialisation du modele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Points forts du projet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99339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Approche pedagogique originale : rendre visible l'invisible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299923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8892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Backend decouple, reutilisable et configurable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050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9476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Communication temps reel fluide et compatible Unity/C#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501091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8006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Projet transversal : IA, backend et realite augmentee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Difficultes et solutions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26771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Messages volumineux (~2,4 Mo) -&gt; limite WebSocket augmentee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36499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1546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Animation trop rapide -&gt; diffusion couche par couche (100 ms)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462271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251959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Format JSON different de C# -&gt; alias camelCase automatiques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040" cy="64008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657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B2A4A"/>
                </a:solidFill>
                <a:latin typeface="Calibri"/>
              </a:rPr>
              <a:t>Perspectives et 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226771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NeurAR relie IA et realite augmentee dans un outil pedagogique complet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364992"/>
            <a:ext cx="182880" cy="18288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154680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Pistes : autres architectures (CNN, RNN), mode multi-utilisateurs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462271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251959"/>
            <a:ext cx="9464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2D3142"/>
                </a:solidFill>
                <a:latin typeface="Calibri"/>
              </a:rPr>
              <a:t>Pistes : entrainement interactif, deploiement sur casques AR/VR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029200"/>
            <a:ext cx="3200400" cy="3200400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-914400"/>
            <a:ext cx="2377440" cy="237744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5603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2A4A"/>
                </a:solidFill>
                <a:latin typeface="Calibri"/>
              </a:rPr>
              <a:t>Merci pour votre attention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8D99AE"/>
                </a:solidFill>
                <a:latin typeface="Calibri"/>
              </a:rPr>
              <a:t>Questions et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